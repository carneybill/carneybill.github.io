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2306d63c04e25" /><Relationship Type="http://schemas.openxmlformats.org/officeDocument/2006/relationships/extended-properties" Target="/docProps/app.xml" Id="R56b7600db9d049b6" /><Relationship Type="http://schemas.openxmlformats.org/officeDocument/2006/relationships/officeDocument" Target="/ppt/presentation.xml" Id="R25350491dcb24f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aef976f2647de"/>
  </p:sldMasterIdLst>
  <p:notesMasterIdLst>
    <p:notesMasterId xmlns:r="http://schemas.openxmlformats.org/officeDocument/2006/relationships" r:id="R6c100e0309564a98"/>
  </p:notesMasterIdLst>
  <p:sldIdLst>
    <p:sldId xmlns:r="http://schemas.openxmlformats.org/officeDocument/2006/relationships" id="256" r:id="Red7a0c572a90411e"/>
    <p:sldId xmlns:r="http://schemas.openxmlformats.org/officeDocument/2006/relationships" id="257" r:id="R005acc9f09634817"/>
    <p:sldId xmlns:r="http://schemas.openxmlformats.org/officeDocument/2006/relationships" id="258" r:id="R94c9a340de1c4e51"/>
    <p:sldId xmlns:r="http://schemas.openxmlformats.org/officeDocument/2006/relationships" id="259" r:id="R496ab3f00dd24cba"/>
    <p:sldId xmlns:r="http://schemas.openxmlformats.org/officeDocument/2006/relationships" id="260" r:id="R95c83d7060b54bf6"/>
    <p:sldId xmlns:r="http://schemas.openxmlformats.org/officeDocument/2006/relationships" id="261" r:id="Rb16ef6ce89bd4235"/>
    <p:sldId xmlns:r="http://schemas.openxmlformats.org/officeDocument/2006/relationships" id="262" r:id="R1d146a93a9b44849"/>
    <p:sldId xmlns:r="http://schemas.openxmlformats.org/officeDocument/2006/relationships" id="263" r:id="Rba73241875274d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aef976f2647de" /><Relationship Type="http://schemas.openxmlformats.org/officeDocument/2006/relationships/theme" Target="/ppt/theme/theme1.xml" Id="R9d83e5e0f3414241" /><Relationship Type="http://schemas.openxmlformats.org/officeDocument/2006/relationships/notesMaster" Target="/ppt/notesMasters/notesMaster1.xml" Id="R6c100e0309564a98" /><Relationship Type="http://schemas.openxmlformats.org/officeDocument/2006/relationships/presProps" Target="/ppt/presProps.xml" Id="Rf1bef4a9c1704d2e" /><Relationship Type="http://schemas.openxmlformats.org/officeDocument/2006/relationships/viewProps" Target="/ppt/viewProps.xml" Id="Rbf82a5a9f3504342" /><Relationship Type="http://schemas.openxmlformats.org/officeDocument/2006/relationships/tableStyles" Target="/ppt/tableStyles.xml" Id="Rce3c7f8537734933" /><Relationship Type="http://schemas.openxmlformats.org/officeDocument/2006/relationships/slide" Target="/ppt/slides/slide1.xml" Id="Red7a0c572a90411e" /><Relationship Type="http://schemas.openxmlformats.org/officeDocument/2006/relationships/slide" Target="/ppt/slides/slide2.xml" Id="R005acc9f09634817" /><Relationship Type="http://schemas.openxmlformats.org/officeDocument/2006/relationships/slide" Target="/ppt/slides/slide3.xml" Id="R94c9a340de1c4e51" /><Relationship Type="http://schemas.openxmlformats.org/officeDocument/2006/relationships/slide" Target="/ppt/slides/slide4.xml" Id="R496ab3f00dd24cba" /><Relationship Type="http://schemas.openxmlformats.org/officeDocument/2006/relationships/slide" Target="/ppt/slides/slide5.xml" Id="R95c83d7060b54bf6" /><Relationship Type="http://schemas.openxmlformats.org/officeDocument/2006/relationships/slide" Target="/ppt/slides/slide6.xml" Id="Rb16ef6ce89bd4235" /><Relationship Type="http://schemas.openxmlformats.org/officeDocument/2006/relationships/slide" Target="/ppt/slides/slide7.xml" Id="R1d146a93a9b44849" /><Relationship Type="http://schemas.openxmlformats.org/officeDocument/2006/relationships/slide" Target="/ppt/slides/slide8.xml" Id="Rba73241875274d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9dcaeb2ca0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a696f81fe848d8" /><Relationship Type="http://schemas.openxmlformats.org/officeDocument/2006/relationships/notesMaster" Target="/ppt/notesMasters/notesMaster1.xml" Id="R129d8bcd67b844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5b64f5fa1e4c31" /><Relationship Type="http://schemas.openxmlformats.org/officeDocument/2006/relationships/notesMaster" Target="/ppt/notesMasters/notesMaster1.xml" Id="R8900df94c133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764a90af1f4967" /><Relationship Type="http://schemas.openxmlformats.org/officeDocument/2006/relationships/notesMaster" Target="/ppt/notesMasters/notesMaster1.xml" Id="R14bd22a3b73642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07e826c894979" /><Relationship Type="http://schemas.openxmlformats.org/officeDocument/2006/relationships/notesMaster" Target="/ppt/notesMasters/notesMaster1.xml" Id="R0795213ae0e74e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e5d77139764021" /><Relationship Type="http://schemas.openxmlformats.org/officeDocument/2006/relationships/notesMaster" Target="/ppt/notesMasters/notesMaster1.xml" Id="Rd535b916b2b9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2cfe35dc947fc" /><Relationship Type="http://schemas.openxmlformats.org/officeDocument/2006/relationships/notesMaster" Target="/ppt/notesMasters/notesMaster1.xml" Id="Rf02350d4056b46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6e64af11c84f59" /><Relationship Type="http://schemas.openxmlformats.org/officeDocument/2006/relationships/notesMaster" Target="/ppt/notesMasters/notesMaster1.xml" Id="R03a737cf27ad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a5a43ca2d74cfa" /><Relationship Type="http://schemas.openxmlformats.org/officeDocument/2006/relationships/notesMaster" Target="/ppt/notesMasters/notesMaster1.xml" Id="Rf71733ebde74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29dd24c4a40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9cc1a631d254b16" /><Relationship Type="http://schemas.openxmlformats.org/officeDocument/2006/relationships/slideLayout" Target="/ppt/slideLayouts/slideLayout2.xml" Id="Rd6e08bd02edc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08bd02edc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e320efaf0f41e6" /><Relationship Type="http://schemas.openxmlformats.org/officeDocument/2006/relationships/image" Target="/ppt/media/image.jpeg" Id="Rcd780779241f4fe5" /><Relationship Type="http://schemas.openxmlformats.org/officeDocument/2006/relationships/notesSlide" Target="/ppt/notesSlides/notesSlide1.xml" Id="Rc9b21fe4b943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e005b437c3486b" /><Relationship Type="http://schemas.openxmlformats.org/officeDocument/2006/relationships/notesSlide" Target="/ppt/notesSlides/notesSlide2.xml" Id="R5c868af20749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34b17faf24fb7" /><Relationship Type="http://schemas.openxmlformats.org/officeDocument/2006/relationships/notesSlide" Target="/ppt/notesSlides/notesSlide3.xml" Id="Rdcf9361a50794d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6aea7043b4810" /><Relationship Type="http://schemas.openxmlformats.org/officeDocument/2006/relationships/notesSlide" Target="/ppt/notesSlides/notesSlide4.xml" Id="Rc7a16936c3e94c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aef6a7b994498" /><Relationship Type="http://schemas.openxmlformats.org/officeDocument/2006/relationships/notesSlide" Target="/ppt/notesSlides/notesSlide5.xml" Id="Rbfc8d7a4db29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0eaf853b504c78" /><Relationship Type="http://schemas.openxmlformats.org/officeDocument/2006/relationships/notesSlide" Target="/ppt/notesSlides/notesSlide6.xml" Id="R0e0eff54bb9e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8f4324b4946f2" /><Relationship Type="http://schemas.openxmlformats.org/officeDocument/2006/relationships/notesSlide" Target="/ppt/notesSlides/notesSlide7.xml" Id="R7a6acd5482244c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48f28df904fb5" /><Relationship Type="http://schemas.openxmlformats.org/officeDocument/2006/relationships/notesSlide" Target="/ppt/notesSlides/notesSlide8.xml" Id="R8b33a0be8d474a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F90A9-0C1A-4D3A-80F2-2347192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BA5A2-0895-447F-AEC0-046A4BCD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carney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4237-84BE-4095-A173-B7C3266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"/>
            <a:ext cx="78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rPr>
              <a:t>.wiki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FF63E-810C-402D-8483-E6DFD5FD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936E7-1C02-4708-950D-C7D0FCEB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09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AI-Era Growth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1F613-8966-4054-8129-EF669410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A reusable client proposal and pitch narrative for technical B2B companies that need sharper positioning, stronger proof, and practical pipeline motion.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DE015-AFD6-4BFC-8BFC-1C6CAC4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19291-0719-4270-8CBD-544D1BA0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CLARIFY THE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8E03A-088D-4467-BCA5-7D8E204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86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E20E7-BF1A-40E8-9CF0-D67364B3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14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BUILD THE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BC28E-FD00-4F53-B122-313A2941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6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6E8D8-6469-4587-9F24-8EDF1928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14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MOVE THE MARKET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80779241f4fe5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90600"/>
            <a:ext cx="3714750" cy="4953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1BC26-E2DC-41BF-B0B9-C046D7A2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5CD7-727C-4E09-8049-6CE05F54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Proposal template | Prepared by Bill Carney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C8F0F-7AB5-4034-A4AA-A9891EAB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74303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594EB-D566-452D-B4DF-0F3608F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F134209-5681-40A7-BB78-493F848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FFB08CF-D989-4126-BA18-03B39D4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BUYER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3C9D2-B2EC-43C8-BE32-6C2BC786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66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The old funnel is too fragile for AI-era buying.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E9E00-B13B-456B-9E0C-458CDA6B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Buyers, committees, and AI systems compress weak positioning into generic summaries. The proposal has to show how the client becomes easier to understand, verify, and choose.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BCEC1-44F9-433C-984D-80C5E89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56F15-60AF-4DBB-9569-6E597F1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C24BE-7E14-443C-A2A8-DD221342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VAGUE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AB912-DB13-4F09-9BB2-A83AF0E2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861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Buyers cannot repeat why the company matters now.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64F23-C252-46DC-A545-6F4EA2A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37918-8F58-4812-A7DA-FACB3E1E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1E974-26E3-4C47-99C5-D3CAEF1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MISSING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6579E-12D3-4555-896C-4A66DEAB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243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Claims do not connect to evidence, objections, or use cases.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7ABBA-AA16-43F3-B134-C64212A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6730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9F26B-253A-4609-B72D-BD4E943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673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B9EF6-3E3E-4B71-B12E-E9C275B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STALLED 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79490-D10E-4493-A7B0-87F9373A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625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Campaigns and sales conversations do not create safer next steps.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2008C-051D-4D8D-A4BD-E80F9BF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1E77C-8744-4823-81AC-57A81C5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79420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ECAA7-AAFC-41EB-9303-1A451033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A79A2CF-8DC1-4336-9EEA-49F3132A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5CEE647-9476-4154-9A0F-29E42D3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ENGAGEMENT 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A696-FC99-4919-A39B-37C78DFA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The work tightens three operating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2132B-AC43-4364-B8FC-BA3DC4E3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238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C1D65-8962-47C4-8AD3-87E1F807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FEE5B-DAB8-432A-AB69-53E525D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6F001-8E24-49F4-B791-671A3F96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DB9A7-F4EE-4C04-A52B-1545CB3E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Turn technical capability into a buyer situation, category frame, and defensible value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1688C-D2A0-417E-9E9B-D4C5FEFA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238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0C597-99E0-4527-B82D-CE69BA95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B9D19-C6E7-47EB-90AF-246F717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C8C47-E8FC-47A9-B176-05F0929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05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PROOF 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230F1-B25D-49D2-B4D2-7E615889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Map evidence to claims, buying stages, use cases, objections, and sales moments.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F12E5-81B9-479B-B815-6B85CA9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238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D4D42-6BCF-449E-A4CD-F096C33B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67146-8522-440C-A6BF-101A0D3D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559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330AD-6B3D-454B-9806-B2023F93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05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PIPELINE MOTION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30488-89BE-4B1D-907B-338832E6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Convert story and proof into offer paths, campaigns, assets, and operating rhythms.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8352A-336E-4D8B-BF8F-967DF4A9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Each workstream produces reusable client artifacts, not abstract strategy theatre.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9E685-083D-44F1-AD04-D9CA5A0A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AF8DE-7D39-4DBA-B5B5-B90403B3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04161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B685B-87FC-43F3-AD88-9565636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77E0B244-8B9F-4682-9C1F-424474B3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67B736AD-CB00-4CB2-AF21-07F3E31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PROOF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B02DF-033F-42F0-8B7A-1A6F751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57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Proof should move like inventory, not decoration.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D174C-3002-4B22-BCC5-33C6CAD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F3E1E-C362-45C4-958A-A2C8782B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CLAIMS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70414-15AD-4A1C-82F3-5FCF41A1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What we need buyers to believe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744BC-C0E1-4630-8C5A-260474E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64AE-A91E-4D75-8DD3-841AC88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194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A5EA4-34C8-4480-A1DB-E910E89B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BE10D-B48C-412E-8503-1DD01B71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07ED4-56ED-4306-BED6-B0A2A89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Customer, product, security, and implementation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8F704-8C6E-4757-8632-845ED51C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766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74E07-90CC-4180-8954-666B1E0F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194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7E06D-C7B2-40D0-8BDA-B1B6942C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830EA-EBC0-4BCA-B990-A798D27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PLACEMENT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3ED18-C261-400B-A03C-8CCC859A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Homepage, sales deck, trust center, campaigns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D67CF-D11D-42A7-9EC2-411C6BAA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94973-4E42-4CEF-B903-EDE32ECD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194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C51F0-F7CA-4028-822D-E2FC598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3ECC5-88C6-4100-9528-C336CB43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USAGE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ADAD9-0ED0-42EB-AC65-C0D87A9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Which proof is reused in active deals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24B70-CBE5-4670-8F09-E76569C2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Proposal deliverable: proof inventory + proof matrix + placement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B54A9-354E-4900-9334-8196900F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41618-E236-4E1C-8E46-7EC1A0F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64227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21AC1-D833-435D-B543-63409F5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0D2FDB39-7A06-46EC-9417-ECE7E3A3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0EF168C4-7F90-4736-A917-AB13034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GROWTH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26361-9329-4DC4-8B39-4955E28E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The proposal turns the story into repeatable market motion.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2B08E-B729-489D-8832-F7571E73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D7A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AF889-65FA-4BDC-B68F-1424610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CLARIFY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CEED7-DBE0-41F1-9CE6-B18272D4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Buyer situation and differentiated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F5D7D-C129-443A-8BB9-C1F84AB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61BAF-34BC-488F-A5FE-C117190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A72C5-31A0-4DFC-B5BB-BC4A0B06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10E12-7BFF-476F-88C6-9BCFFDF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BEBCC-6E59-4C63-A6B4-8F944FA4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Proof and assets buyers can forward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F7A57-4843-4451-97E5-819AFFA4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5CE33-234F-4768-959F-8F70B0C8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480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BA308-3E3C-4BA3-B745-DA9FF27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33C74-DFFB-4A24-99C4-1DC196F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ACTIVATE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50103-A67D-4183-A990-D658EE74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Offers, campaigns, and sales enablement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D8459-33AA-4EAB-9DF2-5FCD375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04D16-8CDF-4F28-A766-CDA0824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EBE3F-3622-4AAC-B84E-CC2A1DB2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3EEBF-9809-4195-BF31-18C062C2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A3798-07DB-4623-B354-3C3609DD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Signals that refine proof and messaging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4D4BA-04D4-41E0-9E6E-6C315FDB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828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The final roadmap makes the loop operational: owner, cadence, asset backlog, and priority plays.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780FE-38AA-4902-B64C-F16CCC5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13232-D7D4-4F9D-95F3-896056B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4857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CE8A1F-344E-420E-ADEE-95300BFF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87C108B-1A06-4B15-8A03-E35AE63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312F646-994F-4EB0-9557-F615334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2EAC5-4993-4CA1-AFD6-CD2D37BF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429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Six weeks is enough to move from diagnosis to operating rhythm.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2AB4-CACD-4348-8FB4-3AEC9B08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E5944-613F-4A4A-88CF-39E0A70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019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052EB-BD24-4152-80ED-36B746E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WEEK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7EA53-CC12-4BD6-B5A0-F64BF152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Audit +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3D2E-3764-419A-844E-A8757E4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Current story, buyer friction, proof gaps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38E8B-302D-4339-A7A2-B1F64F61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10912-D480-4101-8ECF-EE1C69A8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19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B6973-CB58-4DEF-9F9A-DF09269D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WEEKS 2-3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077A6-1A27-4EF1-A0DD-82727A1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528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28F33-1437-4063-8838-32833FB3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767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Positioning, claims, proof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4EEAE-5F7D-438A-A7C3-C671AAD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565BC-4C88-4F96-9B2D-B041C5FC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19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FFAC9-AF0A-4884-A8AC-1405899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WEEKS 4-5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A744A-DFDB-46CF-81B0-64602CAC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38CF7-3F08-4DEB-A1E0-FEAA0E3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Assets, offers, campaign plays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1375A-38DB-40D0-BA28-AD769DDA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775EC-4F81-441B-AA64-6C626CD2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019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BFAF9-59F9-40FA-8A1E-276727A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671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WEEK 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BE893-E319-4DDB-8640-CC84F7F0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6A309-5B0A-4751-8E61-80D9A98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767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30/60/90 roadmap and owner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564C8-6661-4C9F-A67A-AC094AF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DDF48-C8E3-4D49-827D-B2E8A6D6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93802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75628-37E8-4363-A3F5-E7AD9EA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4F18772-C3AD-4C92-83FD-BC481C2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A131A1E-BD6C-48FC-949D-9C4FA09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COMMERCIAL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9B4EC-44E5-4857-B0EC-1057414E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Choose the path that matches urgency and evidence gaps.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7BB76-E6DD-4F3E-BF1A-2C27237C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2E7F-C5FE-4DE9-A699-3F621B4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152CD-9198-42EE-8D22-DC341CCC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2A00D-4FE6-427B-9D6C-14D5F4D1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$5K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F7299-DEC0-4767-A65B-7758880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Fast diagnosis and priority 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2D0BF-0C79-4DC1-B251-9350B391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AC453-A11E-49F7-8B11-B7A7673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4EF57-2812-46B4-8527-7CA6C3C0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PROOF 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01230-FFBC-4AC7-ADE5-2801A944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$10K-$20K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3ADEE-7189-4131-917C-D8D4B3A0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Proof matrix, library, placement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E46ED-8CE7-4F69-A403-E2B4E88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A0EF4-1437-47F0-8505-D674E50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1C57C-3828-4C00-AEE7-13A7233F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CONTENT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A05E6-3CE0-4981-9F64-6217B778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0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$5K/mo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1FFA9-7C33-498B-8382-80E04A24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Recurring POV, proof, and site improvements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462FB-BC79-4364-818C-0438908D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Custom growth system scoped after diagnostic when the client needs broader GTM reset or implementation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AB8C2-4715-43AE-9866-3AE661A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4832D-7BD9-4326-A68B-B0BADF87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2831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6A17A-F2D4-4FA7-815F-E5E96F16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7ECFA1F-A00F-42F8-961A-B22EBE55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6011E1F8-3D5B-4552-A6E4-B6BBF66F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8E8"/>
                </a:solidFill>
                <a:latin typeface="Aptos Display"/>
                <a:ea typeface="Aptos Display"/>
                <a:cs typeface="Aptos Display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8D74A-6E31-4360-B769-E72BC6BB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85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Start with the fastest path to clarity, then build from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79520-08A6-48E1-80F1-3ADDE39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81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The proposal should make the buyer feel less risk, not more work. The next conversation confirms where clarity is missing, which proof matters, and which commercial path creates momentum soonest.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F2A2F-F294-4C90-9AE5-78C3A5EE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B9401-CF19-4C40-ADCC-D5995E00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35AE1-F008-4C40-9A85-5C85EBE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3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Confirm client owner and decision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728BE-2D7C-4005-A51F-91723D4A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04D1A-51C3-495D-84CF-81BB4FC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58FF6-EA72-478B-A8B3-80B5115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Share site, sales, proof, and performance materials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1D694-9776-403B-883A-7771F82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ACA36-A167-43C9-87EA-A1A8588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AF132-043D-4F28-B1B8-EF3112F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Schedule kickoff and diagnostic readout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ED8C6-9E78-4512-B1EC-9E7FBBFC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8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B0A66-E599-4750-9BF3-4F151A1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carney.wiki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7A5BE-8921-4293-BCFA-DD207FA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59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597"/>
                </a:solidFill>
                <a:latin typeface="Aptos"/>
                <a:ea typeface="Aptos"/>
                <a:cs typeface="Aptos"/>
              </a:rPr>
              <a:t>Ideas into impact.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AC8A2-B369-41C2-8AF8-339E7940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Strategy. Clarity. Results.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DEF95-7C86-4A6D-BCF5-A9B25A6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92FF1-A18E-4BB6-8EB3-7887CE6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Use this deck alongside the proposal document as the meeting narrative, then tailor client-specific proof, scope, and pricing before sending.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73BDC-A7F2-4C1C-BEE8-B36015C8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7B9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7B9BD"/>
                </a:solidFill>
                <a:latin typeface="Aptos"/>
                <a:ea typeface="Aptos"/>
                <a:cs typeface="Aptos"/>
              </a:rPr>
              <a:t>carney.wiki | Strategy. Clarity. Results.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CF1C6-E8BC-477A-91BD-B2650558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8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FC8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7537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2026-05-14T15:58:07.4430000Z</dcterms:created>
  <dcterms:modified xsi:type="dcterms:W3CDTF">2026-05-14T15:58:07.4430000Z</dcterms:modified>
</coreProperties>
</file>